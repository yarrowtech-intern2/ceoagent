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5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2560320" cy="1645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ptos"/>
              </a:rPr>
              <a:t>CEO
Agent
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880360"/>
            <a:ext cx="246888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B8C3D6"/>
                </a:solidFill>
                <a:latin typeface="Aptos"/>
              </a:rPr>
              <a:t>Developer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1143000"/>
            <a:ext cx="6583680" cy="9144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900" b="1">
                <a:solidFill>
                  <a:srgbClr val="15181F"/>
                </a:solidFill>
                <a:latin typeface="Aptos"/>
              </a:rP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70832" y="2148840"/>
            <a:ext cx="6309360" cy="9144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676F7E"/>
                </a:solidFill>
                <a:latin typeface="Aptos"/>
              </a:rPr>
              <a:t>A TypeScript/Node multi-agent orchestration app using Claude Agent SDK, Express, MCP tool servers, local persistence, and browser-based run monitoring.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749039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3817620"/>
            <a:ext cx="16916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Multi-agent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749039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381762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Task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749039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817620"/>
            <a:ext cx="15087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Connected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Developer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System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The app wraps a multi-agent runtime with a web dashboard and external tool connectors.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938527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600200"/>
            <a:ext cx="1719072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Browser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52344" y="1655064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6936" y="1417320"/>
            <a:ext cx="1938527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26664" y="1600200"/>
            <a:ext cx="1719072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Express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655064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56631" y="1417320"/>
            <a:ext cx="1938527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59" y="1600200"/>
            <a:ext cx="1719072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CEO 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1736" y="1655064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96327" y="1417320"/>
            <a:ext cx="1938527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06055" y="1600200"/>
            <a:ext cx="1719072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Specialist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2" y="1655064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6024" y="1417320"/>
            <a:ext cx="1938527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1" y="1600200"/>
            <a:ext cx="1719072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MCP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743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2743200"/>
            <a:ext cx="73152" cy="1234440"/>
          </a:xfrm>
          <a:prstGeom prst="rect">
            <a:avLst/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2889504"/>
            <a:ext cx="2926079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" y="3255264"/>
            <a:ext cx="2926079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Static HTML/CSS/JS served from Express. Uses Lucide icons, marked, DOMPurify, GSAP, and Lenis from CDNs.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743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2743200"/>
            <a:ext cx="73152" cy="123444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2889504"/>
            <a:ext cx="2926079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3255264"/>
            <a:ext cx="2926079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Express server in TypeScript, run APIs, SSE streaming, upload parsing, account callbacks, and local stores.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274320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2743200"/>
            <a:ext cx="73152" cy="123444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2889504"/>
            <a:ext cx="2926079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Agent runtime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3255264"/>
            <a:ext cx="2926079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Claude Agent SDK query(), custom Agent definitions, MCP servers, and explicit tool allowlists.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Developer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Current dependencies and runtime choices from package.json.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383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097280"/>
          </a:xfrm>
          <a:prstGeom prst="rect">
            <a:avLst/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380744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46504"/>
            <a:ext cx="306324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TypeScript 5.7, ESM modules, Node runtime, tsx for dev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383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109728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380744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746504"/>
            <a:ext cx="306324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Express 4, multer, native fetch, Server-Sent Events for live run updates.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383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73152" cy="109728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380744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46504"/>
            <a:ext cx="306324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@anthropic-ai/claude-agent-sdk with custom subagents and MCP servers.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51760"/>
            <a:ext cx="3383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651760"/>
            <a:ext cx="73152" cy="1097280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798064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Data parsing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163824"/>
            <a:ext cx="306324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exceljs, pdf-parse, mammoth, plain text/code formats.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651760"/>
            <a:ext cx="3383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2651760"/>
            <a:ext cx="731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7" y="2798064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Integrations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7" y="3163824"/>
            <a:ext cx="306324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Google APIs, Linear GraphQL, Meta Graph APIs, LinkedIn REST, Zernio API, n8n webhooks.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651760"/>
            <a:ext cx="33832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2651760"/>
            <a:ext cx="73152" cy="1097280"/>
          </a:xfrm>
          <a:prstGeom prst="rect">
            <a:avLst/>
          </a:prstGeom>
          <a:solidFill>
            <a:srgbClr val="908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2798064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3163824"/>
            <a:ext cx="306324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zod schemas for MCP tool inputs.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Developer 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CEO delegates; specialists execute with narrow prompts and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DEPARTMENTS defines the product-facing department roster, labels, icons, taglines, and identity colors.</a:t>
            </a:r>
          </a:p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buildAgentsRegistry() creates Manager, HR, Developer, Analysis, Sales, Finance, SEO, Emails, and PR agents.</a:t>
            </a:r>
          </a:p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CEO_SYSTEM_PROMPT instructs the top-level agent to analyze, delegate, and summarize instead of doing specialist work itself.</a:t>
            </a:r>
          </a:p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Specialists use background: false to reduce lost-result behavior in delegated tool calls.</a:t>
            </a:r>
          </a:p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runSpecialistAgent() bypasses the CEO for department-page direct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Developer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Runtime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How a user request turns into saved state.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164287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1423416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POST /api/runs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73807" y="1563624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8400" y="1325880"/>
            <a:ext cx="164287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48128" y="1508760"/>
            <a:ext cx="1423416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createRun()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7848" y="1563624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2440" y="1325880"/>
            <a:ext cx="164287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2168" y="1508760"/>
            <a:ext cx="1423416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query()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1563624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25880"/>
            <a:ext cx="164287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1508760"/>
            <a:ext cx="1423416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drainQuery()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5928" y="1563624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0520" y="1325880"/>
            <a:ext cx="164287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0247" y="1508760"/>
            <a:ext cx="1423416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appendEvent()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9968" y="1563624"/>
            <a:ext cx="228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4D7CFB"/>
                </a:solidFill>
                <a:latin typeface="Aptos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14560" y="1325880"/>
            <a:ext cx="164287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4287" y="1508760"/>
            <a:ext cx="1423416" cy="2377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A2D37"/>
                </a:solidFill>
                <a:latin typeface="Aptos"/>
              </a:rPr>
              <a:t>finishRun()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278892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2788920"/>
            <a:ext cx="73152" cy="1325880"/>
          </a:xfrm>
          <a:prstGeom prst="rect">
            <a:avLst/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2935224"/>
            <a:ext cx="29718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Streaming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3300984"/>
            <a:ext cx="297180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SDK messages are converted into text, tool_use, tool_result, and done events, then streamed to the browser by SSE.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278892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2788920"/>
            <a:ext cx="73152" cy="132588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2935224"/>
            <a:ext cx="29718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Task 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3300984"/>
            <a:ext cx="297180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Linear task refs are parsed from tool results and stored on the run record.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278892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2788920"/>
            <a:ext cx="73152" cy="132588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2935224"/>
            <a:ext cx="29718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Resume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3300984"/>
            <a:ext cx="297180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Captured SDK session IDs let /api/runs/:id/reply continue a finished run in place.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Developer deck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API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Express routes are small and resource-oriented.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A2D37"/>
                </a:solidFill>
                <a:latin typeface="Aptos"/>
              </a:defRPr>
            </a:pPr>
            <a:r>
              <a:t>POST /api/runs: start a CEO-routed run.</a:t>
            </a:r>
          </a:p>
          <a:p>
            <a:pPr>
              <a:spcAft>
                <a:spcPts val="700"/>
              </a:spcAft>
              <a:defRPr sz="1300">
                <a:solidFill>
                  <a:srgbClr val="2A2D37"/>
                </a:solidFill>
                <a:latin typeface="Aptos"/>
              </a:defRPr>
            </a:pPr>
            <a:r>
              <a:t>POST /api/agents/:key/runs: start a direct specialist run.</a:t>
            </a:r>
          </a:p>
          <a:p>
            <a:pPr>
              <a:spcAft>
                <a:spcPts val="700"/>
              </a:spcAft>
              <a:defRPr sz="1300">
                <a:solidFill>
                  <a:srgbClr val="2A2D37"/>
                </a:solidFill>
                <a:latin typeface="Aptos"/>
              </a:defRPr>
            </a:pPr>
            <a:r>
              <a:t>POST /api/runs/:id/reply: continue a captured SDK session.</a:t>
            </a:r>
          </a:p>
          <a:p>
            <a:pPr>
              <a:spcAft>
                <a:spcPts val="700"/>
              </a:spcAft>
              <a:defRPr sz="1300">
                <a:solidFill>
                  <a:srgbClr val="2A2D37"/>
                </a:solidFill>
                <a:latin typeface="Aptos"/>
              </a:defRPr>
            </a:pPr>
            <a:r>
              <a:t>GET /api/runs and GET /api/runs/:id: list and inspect persisted run records.</a:t>
            </a:r>
          </a:p>
          <a:p>
            <a:pPr>
              <a:spcAft>
                <a:spcPts val="700"/>
              </a:spcAft>
              <a:defRPr sz="1300">
                <a:solidFill>
                  <a:srgbClr val="2A2D37"/>
                </a:solidFill>
                <a:latin typeface="Aptos"/>
              </a:defRPr>
            </a:pPr>
            <a:r>
              <a:t>GET /api/runs/:id/stream: stream run updates via text/event-stream.</a:t>
            </a:r>
          </a:p>
          <a:p>
            <a:pPr>
              <a:spcAft>
                <a:spcPts val="700"/>
              </a:spcAft>
              <a:defRPr sz="1300">
                <a:solidFill>
                  <a:srgbClr val="2A2D37"/>
                </a:solidFill>
                <a:latin typeface="Aptos"/>
              </a:defRPr>
            </a:pPr>
            <a:r>
              <a:t>GET /api/departments, /api/analytics, /api/documents, /api/accounts: dashboard data.</a:t>
            </a:r>
          </a:p>
          <a:p>
            <a:pPr>
              <a:spcAft>
                <a:spcPts val="700"/>
              </a:spcAft>
              <a:defRPr sz="1300">
                <a:solidFill>
                  <a:srgbClr val="2A2D37"/>
                </a:solidFill>
                <a:latin typeface="Aptos"/>
              </a:defRPr>
            </a:pPr>
            <a:r>
              <a:t>POST /api/uploads: parse supported attachment files into text context.</a:t>
            </a:r>
          </a:p>
          <a:p>
            <a:pPr>
              <a:spcAft>
                <a:spcPts val="700"/>
              </a:spcAft>
              <a:defRPr sz="1300">
                <a:solidFill>
                  <a:srgbClr val="2A2D37"/>
                </a:solidFill>
                <a:latin typeface="Aptos"/>
              </a:defRPr>
            </a:pPr>
            <a:r>
              <a:t>POST /api/automation/*: API-key-gated run creation for external automations.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Developer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MCP Tool Servers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Each external capability is exposed through bounded tools.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1097280"/>
          </a:xfrm>
          <a:prstGeom prst="rect">
            <a:avLst/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80744"/>
            <a:ext cx="32461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linear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324612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create_linear_task, list_linear_tasks via Linear GraphQL.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73152" cy="109728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380744"/>
            <a:ext cx="32461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746504"/>
            <a:ext cx="324612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create_{department}_document tools persisted under workspace/.documents.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234440"/>
            <a:ext cx="73152" cy="109728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380744"/>
            <a:ext cx="32461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gmail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746504"/>
            <a:ext cx="324612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list/read email, create draft, send when explicitly instructed.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65176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651760"/>
            <a:ext cx="73152" cy="1097280"/>
          </a:xfrm>
          <a:prstGeom prst="rect">
            <a:avLst/>
          </a:prstGeom>
          <a:solidFill>
            <a:srgbClr val="E8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798064"/>
            <a:ext cx="32461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social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163824"/>
            <a:ext cx="324612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Instagram DMs, LinkedIn organization posts, Zernio posts and conversations.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65176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651760"/>
            <a:ext cx="731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2798064"/>
            <a:ext cx="32461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whatsapp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163824"/>
            <a:ext cx="324612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Template and freeform sends through WhatsApp Cloud API.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2651760"/>
            <a:ext cx="35661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1000" y="2651760"/>
            <a:ext cx="73152" cy="1097280"/>
          </a:xfrm>
          <a:prstGeom prst="rect">
            <a:avLst/>
          </a:prstGeom>
          <a:solidFill>
            <a:srgbClr val="908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2798064"/>
            <a:ext cx="32461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automation/media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3163824"/>
            <a:ext cx="324612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n8n allowlisted workflows, OpenAI image generation, local post images.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Developer 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Data And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Simple local files back the single-user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data/runs.json stores run records, events, status, costs, task refs, archive flags, and SDK session IDs.</a:t>
            </a:r>
          </a:p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workspace/.documents/index.json stores generated markdown deliverables.</a:t>
            </a:r>
          </a:p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data/*-token.json stores OAuth connection tokens for Gmail, Instagram, and LinkedIn.</a:t>
            </a:r>
          </a:p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Workspace isolation is intentional: agent cwd is workspace/, not the app source tree.</a:t>
            </a:r>
          </a:p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Document writes live under workspace because delegated subagent writes outside cwd were observed to be unreliable.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Developer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Frontend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A static app that renders from API state.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73152" cy="1143000"/>
          </a:xfrm>
          <a:prstGeom prst="rect">
            <a:avLst/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26463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State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92224"/>
            <a:ext cx="306324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One state object tracks view, theme, departments, accounts, runs, selected run, docs, and live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801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80160"/>
            <a:ext cx="73152" cy="114300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426463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792224"/>
            <a:ext cx="306324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Overview dashboard, department pages, run detail, accounts page, document popups.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73152" cy="114300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426463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Rendering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92224"/>
            <a:ext cx="306324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Vanilla JS string templates with event delegation after each render.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8892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788920"/>
            <a:ext cx="73152" cy="114300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935224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Safety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300984"/>
            <a:ext cx="306324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Agent markdown is rendered with marked and sanitized with DOMPurify.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78892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2788920"/>
            <a:ext cx="73152" cy="1143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7" y="2935224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Live 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7" y="3300984"/>
            <a:ext cx="306324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SSE updates, tool cards, auto-follow log behavior, reply form, and run actions.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78892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2788920"/>
            <a:ext cx="73152" cy="1143000"/>
          </a:xfrm>
          <a:prstGeom prst="rect">
            <a:avLst/>
          </a:prstGeom>
          <a:solidFill>
            <a:srgbClr val="908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2935224"/>
            <a:ext cx="306324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Responsive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3300984"/>
            <a:ext cx="306324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Sidebar drawer on mobile, fixed shell layout on desktop, light/dark theme support.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Developer 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Runtime capability is controlled by environment variables and token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Core: PORT, WEBHOOK_URL, AUTOMATION_API_KEY.</a:t>
            </a:r>
          </a:p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Linear: LINEAR_API_KEY, LINEAR_TEAM_ID.</a:t>
            </a:r>
          </a:p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Google/Gmail: GOOGLE_CLIENT_ID, GOOGLE_CLIENT_SECRET, GOOGLE_REDIRECT_URI.</a:t>
            </a:r>
          </a:p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Meta/Instagram/WhatsApp: META_APP_ID, META_APP_SECRET, META_REDIRECT_URI, WHATSAPP_*.</a:t>
            </a:r>
          </a:p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LinkedIn: LINKEDIN_CLIENT_ID, LINKEDIN_CLIENT_SECRET, LINKEDIN_REDIRECT_URI.</a:t>
            </a:r>
          </a:p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Zernio and image posting: ZERNIO_API_KEY, OPENAI_API_KEY.</a:t>
            </a:r>
          </a:p>
          <a:p>
            <a:pPr>
              <a:spcAft>
                <a:spcPts val="700"/>
              </a:spcAft>
              <a:defRPr sz="1400">
                <a:solidFill>
                  <a:srgbClr val="2A2D37"/>
                </a:solidFill>
                <a:latin typeface="Aptos"/>
              </a:defRPr>
            </a:pPr>
            <a:r>
              <a:t>n8n: N8N_WORKFLOWS as an allowlist mapping workflow names to webhook URLs.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Developer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Security And Reliability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Important implementation decisions developers should preserve.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2A2D37"/>
                </a:solidFill>
                <a:latin typeface="Aptos"/>
              </a:defRPr>
            </a:pPr>
            <a:r>
              <a:t>Developer agent runs inside workspace/ so Bash and file tools do not touch the app source tree.</a:t>
            </a:r>
          </a:p>
          <a:p>
            <a:pPr>
              <a:spcAft>
                <a:spcPts val="700"/>
              </a:spcAft>
              <a:defRPr sz="1350">
                <a:solidFill>
                  <a:srgbClr val="2A2D37"/>
                </a:solidFill>
                <a:latin typeface="Aptos"/>
              </a:defRPr>
            </a:pPr>
            <a:r>
              <a:t>n8n trigger accepts only admin-configured workflow names, preventing arbitrary URL calls.</a:t>
            </a:r>
          </a:p>
          <a:p>
            <a:pPr>
              <a:spcAft>
                <a:spcPts val="700"/>
              </a:spcAft>
              <a:defRPr sz="1350">
                <a:solidFill>
                  <a:srgbClr val="2A2D37"/>
                </a:solidFill>
                <a:latin typeface="Aptos"/>
              </a:defRPr>
            </a:pPr>
            <a:r>
              <a:t>External sends/posts are described as irreversible and prompts default to drafts or approval-first behavior.</a:t>
            </a:r>
          </a:p>
          <a:p>
            <a:pPr>
              <a:spcAft>
                <a:spcPts val="700"/>
              </a:spcAft>
              <a:defRPr sz="1350">
                <a:solidFill>
                  <a:srgbClr val="2A2D37"/>
                </a:solidFill>
                <a:latin typeface="Aptos"/>
              </a:defRPr>
            </a:pPr>
            <a:r>
              <a:t>The automation API is gated by X-API-Key and separate from browser run creation.</a:t>
            </a:r>
          </a:p>
          <a:p>
            <a:pPr>
              <a:spcAft>
                <a:spcPts val="700"/>
              </a:spcAft>
              <a:defRPr sz="1350">
                <a:solidFill>
                  <a:srgbClr val="2A2D37"/>
                </a:solidFill>
                <a:latin typeface="Aptos"/>
              </a:defRPr>
            </a:pPr>
            <a:r>
              <a:t>Uploaded files are parsed in memory and discarded; text is appended to the agent prompt.</a:t>
            </a:r>
          </a:p>
          <a:p>
            <a:pPr>
              <a:spcAft>
                <a:spcPts val="700"/>
              </a:spcAft>
              <a:defRPr sz="1350">
                <a:solidFill>
                  <a:srgbClr val="2A2D37"/>
                </a:solidFill>
                <a:latin typeface="Aptos"/>
              </a:defRPr>
            </a:pPr>
            <a:r>
              <a:t>Known reliability mitigation: SDK task_notification events are handled because backgrounded subagent outcomes can arrive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Developer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Build, Run,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Commands available in the current project.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3337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73152" cy="1097280"/>
          </a:xfrm>
          <a:prstGeom prst="rect">
            <a:avLst/>
          </a:prstGeom>
          <a:solidFill>
            <a:srgbClr val="4D7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517904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883664"/>
            <a:ext cx="301752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npm install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337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71600"/>
            <a:ext cx="73152" cy="1097280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17904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Run web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883664"/>
            <a:ext cx="301752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npm start
Serves http://localhost:3000 by default.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37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73152" cy="1097280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517904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Run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883664"/>
            <a:ext cx="301752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npm run cli -- "&lt;goal&gt;"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880360"/>
            <a:ext cx="3337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2880360"/>
            <a:ext cx="73152" cy="10972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026664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Compile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392424"/>
            <a:ext cx="301752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npm run build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880360"/>
            <a:ext cx="3337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2880360"/>
            <a:ext cx="73152" cy="1097280"/>
          </a:xfrm>
          <a:prstGeom prst="rect">
            <a:avLst/>
          </a:prstGeom>
          <a:solidFill>
            <a:srgbClr val="908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7" y="3026664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Typecheck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7" y="3392424"/>
            <a:ext cx="301752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npm run typecheck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880360"/>
            <a:ext cx="3337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2880360"/>
            <a:ext cx="73152" cy="1097280"/>
          </a:xfrm>
          <a:prstGeom prst="rect">
            <a:avLst/>
          </a:prstGeom>
          <a:solidFill>
            <a:srgbClr val="E34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3026664"/>
            <a:ext cx="3017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1">
                <a:solidFill>
                  <a:srgbClr val="15181F"/>
                </a:solidFill>
                <a:latin typeface="Aptos"/>
              </a:rPr>
              <a:t>Open risks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3392424"/>
            <a:ext cx="3017520" cy="4572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0">
                <a:solidFill>
                  <a:srgbClr val="676F7E"/>
                </a:solidFill>
                <a:latin typeface="Aptos"/>
              </a:rPr>
              <a:t>No automated test suite is defined yet; add focused tests around stores, parsers, and route behavior.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Developer 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500" b="1">
                <a:solidFill>
                  <a:srgbClr val="15181F"/>
                </a:solidFill>
                <a:latin typeface="Aptos"/>
              </a:rPr>
              <a:t>Next Engineering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0">
                <a:solidFill>
                  <a:srgbClr val="676F7E"/>
                </a:solidFill>
                <a:latin typeface="Aptos"/>
              </a:rPr>
              <a:t>Work that would make the system production-ready.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Move from local JSON/token files to durable storage with encryption for credentials.</a:t>
            </a:r>
          </a:p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Add authentication, authorization, and per-action approval records.</a:t>
            </a:r>
          </a:p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Add a job queue so long agent runs survive process restarts.</a:t>
            </a:r>
          </a:p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Create automated tests for store persistence, attachment parsing, route contracts, and integration error handling.</a:t>
            </a:r>
          </a:p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Add observability for run latency, tool failures, token/cost budgets, and integration health.</a:t>
            </a:r>
          </a:p>
          <a:p>
            <a:pPr>
              <a:spcAft>
                <a:spcPts val="700"/>
              </a:spcAft>
              <a:defRPr sz="1500">
                <a:solidFill>
                  <a:srgbClr val="2A2D37"/>
                </a:solidFill>
                <a:latin typeface="Aptos"/>
              </a:defRPr>
            </a:pPr>
            <a:r>
              <a:t>Modularize frontend rendering if the UI continues to grow beyond the current static app pattern.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76F7E"/>
                </a:solidFill>
                <a:latin typeface="Aptos"/>
              </a:rPr>
              <a:t>Developer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4630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76F7E"/>
                </a:solidFill>
                <a:latin typeface="Aptos"/>
              </a:rPr>
              <a:t>CEO Agent 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