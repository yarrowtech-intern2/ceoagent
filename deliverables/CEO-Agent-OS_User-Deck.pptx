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2560320" cy="1645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ptos"/>
              </a:rPr>
              <a:t>CEO
Agent
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880360"/>
            <a:ext cx="246888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B8C3D6"/>
                </a:solidFill>
                <a:latin typeface="Aptos"/>
              </a:rPr>
              <a:t>User-facing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1143000"/>
            <a:ext cx="6583680" cy="9144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900" b="1">
                <a:solidFill>
                  <a:srgbClr val="15181F"/>
                </a:solidFill>
                <a:latin typeface="Aptos"/>
              </a:rPr>
              <a:t>Product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70832" y="2148840"/>
            <a:ext cx="6309360" cy="9144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0">
                <a:solidFill>
                  <a:srgbClr val="676F7E"/>
                </a:solidFill>
                <a:latin typeface="Aptos"/>
              </a:rPr>
              <a:t>A simple operating dashboard where a CEO gives goals and specialized AI departments turn them into tasks, documents, drafts, and channel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749039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4D7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3817620"/>
            <a:ext cx="16916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Multi-agent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749039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381762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Task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749039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817620"/>
            <a:ext cx="150876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Connected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User-facing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500" b="1">
                <a:solidFill>
                  <a:srgbClr val="15181F"/>
                </a:solidFill>
                <a:latin typeface="Aptos"/>
              </a:rPr>
              <a:t>What This Project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76F7E"/>
                </a:solidFill>
                <a:latin typeface="Aptos"/>
              </a:rPr>
              <a:t>A local command center for delegating work to an automated company.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1417320"/>
          </a:xfrm>
          <a:prstGeom prst="rect">
            <a:avLst/>
          </a:prstGeom>
          <a:solidFill>
            <a:srgbClr val="4D7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55063"/>
            <a:ext cx="31089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One CEO inbox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20824"/>
            <a:ext cx="3108960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Users describe an outcome once. The CEO agent analyzes the ask, chooses the right department, and reports progress back in one run 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508760"/>
            <a:ext cx="73152" cy="1417320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655063"/>
            <a:ext cx="31089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Specialist departments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20824"/>
            <a:ext cx="3108960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Manager, HR, Developer, Analysis, Sales, Finance, SEO, Emails, and PR each have focused responsibilities and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508760"/>
            <a:ext cx="3246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508760"/>
            <a:ext cx="73152" cy="141732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655063"/>
            <a:ext cx="2926079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Saved deliverables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020824"/>
            <a:ext cx="2926079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Runs, documents, Linear tasks, costs, and transcripts remain available from the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6240"/>
            <a:ext cx="2279141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4389120"/>
            <a:ext cx="2059686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A2D37"/>
                </a:solidFill>
                <a:latin typeface="Aptos"/>
              </a:rPr>
              <a:t>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8718" y="4443983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4D7CFB"/>
                </a:solidFill>
                <a:latin typeface="Aptos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23310" y="4206240"/>
            <a:ext cx="2279141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3037" y="4389120"/>
            <a:ext cx="2059686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A2D37"/>
                </a:solidFill>
                <a:latin typeface="Aptos"/>
              </a:rPr>
              <a:t>CEO decides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9028" y="4443983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4D7CFB"/>
                </a:solidFill>
                <a:latin typeface="Aptos"/>
              </a:rPr>
              <a:t>-&gt;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03620" y="4206240"/>
            <a:ext cx="2279141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3348" y="4389120"/>
            <a:ext cx="2059686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A2D37"/>
                </a:solidFill>
                <a:latin typeface="Aptos"/>
              </a:rPr>
              <a:t>Specialist 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9338" y="4443983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4D7CFB"/>
                </a:solidFill>
                <a:latin typeface="Aptos"/>
              </a:rPr>
              <a:t>-&gt;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83930" y="4206240"/>
            <a:ext cx="2279141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93657" y="4389120"/>
            <a:ext cx="2059686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A2D37"/>
                </a:solidFill>
                <a:latin typeface="Aptos"/>
              </a:rPr>
              <a:t>Result saved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User-facing deck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500" b="1">
                <a:solidFill>
                  <a:srgbClr val="15181F"/>
                </a:solidFill>
                <a:latin typeface="Aptos"/>
              </a:rPr>
              <a:t>Who Will Use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76F7E"/>
                </a:solidFill>
                <a:latin typeface="Aptos"/>
              </a:rPr>
              <a:t>Designed for small teams that need a lightweight AI operations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1280160"/>
          </a:xfrm>
          <a:prstGeom prst="rect">
            <a:avLst/>
          </a:prstGeom>
          <a:solidFill>
            <a:srgbClr val="4D7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17904"/>
            <a:ext cx="29718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Founder / 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883664"/>
            <a:ext cx="2971800" cy="640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Delegates broad goals, checks outcomes, approves external actions, and monitors work across departments.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2918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71600"/>
            <a:ext cx="73152" cy="1280160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17904"/>
            <a:ext cx="29718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Operators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883664"/>
            <a:ext cx="2971800" cy="640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Turn repeated workflows into requests, attach files, review documents, and archive completed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2918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73152" cy="1280160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517904"/>
            <a:ext cx="29718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Functional leads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883664"/>
            <a:ext cx="2971800" cy="640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Use department pages directly when they already know the right specialist for a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88620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A2D37"/>
                </a:solidFill>
                <a:latin typeface="Aptos"/>
              </a:defRPr>
            </a:pPr>
            <a:r>
              <a:t>Best fit: solo founders, agencies, early-stage startup teams, and internal automation pilots.</a:t>
            </a:r>
          </a:p>
          <a:p>
            <a:pPr>
              <a:spcAft>
                <a:spcPts val="700"/>
              </a:spcAft>
              <a:defRPr sz="1500">
                <a:solidFill>
                  <a:srgbClr val="2A2D37"/>
                </a:solidFill>
                <a:latin typeface="Aptos"/>
              </a:defRPr>
            </a:pPr>
            <a:r>
              <a:t>Not a replacement for final human approval on public posts, sent messages, hiring decisions, or financial commitments.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User-facing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500" b="1">
                <a:solidFill>
                  <a:srgbClr val="15181F"/>
                </a:solidFill>
                <a:latin typeface="Aptos"/>
              </a:rPr>
              <a:t>Core User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76F7E"/>
                </a:solidFill>
                <a:latin typeface="Aptos"/>
              </a:rPr>
              <a:t>The UI supports both broad delegation and direct specialist 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73152" cy="960120"/>
          </a:xfrm>
          <a:prstGeom prst="rect">
            <a:avLst/>
          </a:prstGeom>
          <a:solidFill>
            <a:srgbClr val="4D7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80744"/>
            <a:ext cx="498348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Overview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746504"/>
            <a:ext cx="498348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Submit a goal to the CEO agent. It decides who should act and coordinates specialist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73152" cy="960120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380744"/>
            <a:ext cx="498348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Department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1746504"/>
            <a:ext cx="498348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Open a department tab and ask that agent directly when the owner is already clear.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68880"/>
            <a:ext cx="73152" cy="96012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2615184"/>
            <a:ext cx="498348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Attach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2980944"/>
            <a:ext cx="498348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Upload PDF, DOCX, XLSX, CSV, markdown, JSON, logs, or code. The server extracts text and adds it to the prompt.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468880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468880"/>
            <a:ext cx="73152" cy="960120"/>
          </a:xfrm>
          <a:prstGeom prst="rect">
            <a:avLst/>
          </a:prstGeom>
          <a:solidFill>
            <a:srgbClr val="908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2615184"/>
            <a:ext cx="498348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Continue a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980944"/>
            <a:ext cx="498348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Reply inside a finished run to resume the same Claude session rather than starting from scratch.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03320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703320"/>
            <a:ext cx="73152" cy="9601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849624"/>
            <a:ext cx="498348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Review outputs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215383"/>
            <a:ext cx="498348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Open saved documents, inspect tool calls, view Linear tasks, and archive or delete runs.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703320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703320"/>
            <a:ext cx="73152" cy="960120"/>
          </a:xfrm>
          <a:prstGeom prst="rect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7" y="3849624"/>
            <a:ext cx="498348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Connect accounts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7" y="4215383"/>
            <a:ext cx="498348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Connect Gmail, Instagram, LinkedIn, Zernio, WhatsApp, image generation, and n8n workflows as needed.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User-facing deck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500" b="1">
                <a:solidFill>
                  <a:srgbClr val="15181F"/>
                </a:solidFill>
                <a:latin typeface="Aptos"/>
              </a:rPr>
              <a:t>Departments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76F7E"/>
                </a:solidFill>
                <a:latin typeface="Aptos"/>
              </a:rPr>
              <a:t>Each specialist has a narrow job and a bounded toolset.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960120"/>
          </a:xfrm>
          <a:prstGeom prst="rect">
            <a:avLst/>
          </a:prstGeom>
          <a:solidFill>
            <a:srgbClr val="4D7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72184"/>
            <a:ext cx="31089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37943"/>
            <a:ext cx="31089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Breaks initiatives into Linear tasks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25880"/>
            <a:ext cx="3429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325880"/>
            <a:ext cx="73152" cy="96012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472184"/>
            <a:ext cx="31089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837943"/>
            <a:ext cx="31089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Policies, onboarding, job descriptions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325880"/>
            <a:ext cx="3429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1325880"/>
            <a:ext cx="73152" cy="960120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67928" y="1472184"/>
            <a:ext cx="31089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Developer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1837943"/>
            <a:ext cx="31089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Code and command execution in workspace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651760"/>
            <a:ext cx="3429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651760"/>
            <a:ext cx="73152" cy="960120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2798064"/>
            <a:ext cx="31089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163824"/>
            <a:ext cx="31089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Research and analytical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2651760"/>
            <a:ext cx="3429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2651760"/>
            <a:ext cx="73152" cy="960120"/>
          </a:xfrm>
          <a:prstGeom prst="rect">
            <a:avLst/>
          </a:prstGeom>
          <a:solidFill>
            <a:srgbClr val="E8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8" y="2798064"/>
            <a:ext cx="31089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Sales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3163824"/>
            <a:ext cx="31089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Outreach, proposals, social drafts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6760" y="2651760"/>
            <a:ext cx="3429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6760" y="2651760"/>
            <a:ext cx="73152" cy="960120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67928" y="2798064"/>
            <a:ext cx="31089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7928" y="3163824"/>
            <a:ext cx="31089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Budgets and financial write-ups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977639"/>
            <a:ext cx="3429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3977639"/>
            <a:ext cx="73152" cy="9601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4123944"/>
            <a:ext cx="31089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SEO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4489704"/>
            <a:ext cx="31089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Keyword and competitor research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3977639"/>
            <a:ext cx="3429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26280" y="3977639"/>
            <a:ext cx="73152" cy="960120"/>
          </a:xfrm>
          <a:prstGeom prst="rect">
            <a:avLst/>
          </a:prstGeom>
          <a:solidFill>
            <a:srgbClr val="908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27448" y="4123944"/>
            <a:ext cx="31089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Emails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27448" y="4489704"/>
            <a:ext cx="31089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Inbox reading, drafts, sending when approved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66760" y="3977639"/>
            <a:ext cx="3429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6760" y="3977639"/>
            <a:ext cx="73152" cy="960120"/>
          </a:xfrm>
          <a:prstGeom prst="rect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7928" y="4123944"/>
            <a:ext cx="31089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PR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7928" y="4489704"/>
            <a:ext cx="31089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Announcements, pitches, public statements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User-facing deck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500" b="1">
                <a:solidFill>
                  <a:srgbClr val="15181F"/>
                </a:solidFill>
                <a:latin typeface="Aptos"/>
              </a:rPr>
              <a:t>What The Dashboard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76F7E"/>
                </a:solidFill>
                <a:latin typeface="Aptos"/>
              </a:rPr>
              <a:t>The application is built around traceability.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A2D37"/>
                </a:solidFill>
                <a:latin typeface="Aptos"/>
              </a:defRPr>
            </a:pPr>
            <a:r>
              <a:t>Overview analytics: total runs, success rate, errors, documents, and Linear tasks.</a:t>
            </a:r>
          </a:p>
          <a:p>
            <a:pPr>
              <a:spcAft>
                <a:spcPts val="700"/>
              </a:spcAft>
              <a:defRPr sz="1500">
                <a:solidFill>
                  <a:srgbClr val="2A2D37"/>
                </a:solidFill>
                <a:latin typeface="Aptos"/>
              </a:defRPr>
            </a:pPr>
            <a:r>
              <a:t>Run detail: status, cost, timestamps, streamed agent messages, tool calls, and tool results.</a:t>
            </a:r>
          </a:p>
          <a:p>
            <a:pPr>
              <a:spcAft>
                <a:spcPts val="700"/>
              </a:spcAft>
              <a:defRPr sz="1500">
                <a:solidFill>
                  <a:srgbClr val="2A2D37"/>
                </a:solidFill>
                <a:latin typeface="Aptos"/>
              </a:defRPr>
            </a:pPr>
            <a:r>
              <a:t>Department pages: recent work for that department plus saved documents.</a:t>
            </a:r>
          </a:p>
          <a:p>
            <a:pPr>
              <a:spcAft>
                <a:spcPts val="700"/>
              </a:spcAft>
              <a:defRPr sz="1500">
                <a:solidFill>
                  <a:srgbClr val="2A2D37"/>
                </a:solidFill>
                <a:latin typeface="Aptos"/>
              </a:defRPr>
            </a:pPr>
            <a:r>
              <a:t>Accounts page: connection status and setup guidance for supported integrations.</a:t>
            </a:r>
          </a:p>
          <a:p>
            <a:pPr>
              <a:spcAft>
                <a:spcPts val="700"/>
              </a:spcAft>
              <a:defRPr sz="1500">
                <a:solidFill>
                  <a:srgbClr val="2A2D37"/>
                </a:solidFill>
                <a:latin typeface="Aptos"/>
              </a:defRPr>
            </a:pPr>
            <a:r>
              <a:t>Archive/delete controls: hide old tasks without losing history, or remove records permanently after confirmation.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1417320"/>
            <a:ext cx="73152" cy="1143000"/>
          </a:xfrm>
          <a:prstGeom prst="rect">
            <a:avLst/>
          </a:prstGeom>
          <a:solidFill>
            <a:srgbClr val="4D7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1968" y="1563624"/>
            <a:ext cx="19659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1968" y="1929384"/>
            <a:ext cx="196596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What happened and when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41732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06840" y="1417320"/>
            <a:ext cx="73152" cy="1143000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8008" y="1563624"/>
            <a:ext cx="19659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8008" y="1929384"/>
            <a:ext cx="196596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Per-turn and total spend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88036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3026664"/>
            <a:ext cx="19659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3392424"/>
            <a:ext cx="196596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Generated reports and drafts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288036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40" y="288036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3026664"/>
            <a:ext cx="19659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Tasks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3392424"/>
            <a:ext cx="196596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Linear issues created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User-facing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500" b="1">
                <a:solidFill>
                  <a:srgbClr val="15181F"/>
                </a:solidFill>
                <a:latin typeface="Aptos"/>
              </a:rPr>
              <a:t>Example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76F7E"/>
                </a:solidFill>
                <a:latin typeface="Aptos"/>
              </a:rPr>
              <a:t>From a vague business request to concrete 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9659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91639"/>
            <a:ext cx="1746504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A2D37"/>
                </a:solidFill>
                <a:latin typeface="Aptos"/>
              </a:rPr>
              <a:t>User: launch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34056" y="1746504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4D7CFB"/>
                </a:solidFill>
                <a:latin typeface="Aptos"/>
              </a:rPr>
              <a:t>-&gt;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508760"/>
            <a:ext cx="19659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08376" y="1691639"/>
            <a:ext cx="1746504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A2D37"/>
                </a:solidFill>
                <a:latin typeface="Aptos"/>
              </a:rPr>
              <a:t>CEO delegates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1184" y="1746504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4D7CFB"/>
                </a:solidFill>
                <a:latin typeface="Aptos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5776" y="1508760"/>
            <a:ext cx="19659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5504" y="1691639"/>
            <a:ext cx="1746504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A2D37"/>
                </a:solidFill>
                <a:latin typeface="Aptos"/>
              </a:rPr>
              <a:t>Sales drafts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8312" y="1746504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4D7CFB"/>
                </a:solidFill>
                <a:latin typeface="Aptos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2904" y="1508760"/>
            <a:ext cx="19659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1" y="1691639"/>
            <a:ext cx="1746504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A2D37"/>
                </a:solidFill>
                <a:latin typeface="Aptos"/>
              </a:rPr>
              <a:t>PR writes 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746504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4D7CFB"/>
                </a:solidFill>
                <a:latin typeface="Aptos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00032" y="1508760"/>
            <a:ext cx="19659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691639"/>
            <a:ext cx="1746504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A2D37"/>
                </a:solidFill>
                <a:latin typeface="Aptos"/>
              </a:rPr>
              <a:t>Manager creates tasks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971800"/>
            <a:ext cx="32004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2971800"/>
            <a:ext cx="73152" cy="1234440"/>
          </a:xfrm>
          <a:prstGeom prst="rect">
            <a:avLst/>
          </a:prstGeom>
          <a:solidFill>
            <a:srgbClr val="E8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118104"/>
            <a:ext cx="28803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Sales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3483864"/>
            <a:ext cx="288036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Outreach sequence, proposal copy, social post draft, and needed customer context.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971800"/>
            <a:ext cx="32004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2971800"/>
            <a:ext cx="73152" cy="1234440"/>
          </a:xfrm>
          <a:prstGeom prst="rect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3118104"/>
            <a:ext cx="28803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PR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3483864"/>
            <a:ext cx="288036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Press release, media pitch, LinkedIn-ready announcement draft.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971800"/>
            <a:ext cx="32004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2971800"/>
            <a:ext cx="73152" cy="1234440"/>
          </a:xfrm>
          <a:prstGeom prst="rect">
            <a:avLst/>
          </a:prstGeom>
          <a:solidFill>
            <a:srgbClr val="4D7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3118104"/>
            <a:ext cx="28803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Manager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483864"/>
            <a:ext cx="288036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Linear issues with acceptance criteria and ownership-ready descriptions.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User-facing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500" b="1">
                <a:solidFill>
                  <a:srgbClr val="15181F"/>
                </a:solidFill>
                <a:latin typeface="Aptos"/>
              </a:rPr>
              <a:t>External Actions Need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76F7E"/>
                </a:solidFill>
                <a:latin typeface="Aptos"/>
              </a:rPr>
              <a:t>The product is intentionally conservative around irreversible 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3200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73152" cy="1325880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655063"/>
            <a:ext cx="28803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Safe by default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020824"/>
            <a:ext cx="2880360" cy="6858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Email agents create drafts by default. Public posts and messages are described back before publishing.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08760"/>
            <a:ext cx="3200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508760"/>
            <a:ext cx="73152" cy="1325880"/>
          </a:xfrm>
          <a:prstGeom prst="rect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655063"/>
            <a:ext cx="28803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Immediate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020824"/>
            <a:ext cx="2880360" cy="6858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Sending email, WhatsApp messages, Zernio DMs, and LinkedIn posts are treated as irreversible.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08760"/>
            <a:ext cx="3200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508760"/>
            <a:ext cx="73152" cy="1325880"/>
          </a:xfrm>
          <a:prstGeom prst="rect">
            <a:avLst/>
          </a:prstGeom>
          <a:solidFill>
            <a:srgbClr val="4D7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655063"/>
            <a:ext cx="288036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Configured accounts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2020824"/>
            <a:ext cx="2880360" cy="6858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Tools appear only when the relevant token or API key is configured.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39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A2D37"/>
                </a:solidFill>
                <a:latin typeface="Aptos"/>
              </a:defRPr>
            </a:pPr>
            <a:r>
              <a:t>Users keep control over public communication.</a:t>
            </a:r>
          </a:p>
          <a:p>
            <a:pPr>
              <a:spcAft>
                <a:spcPts val="700"/>
              </a:spcAft>
              <a:defRPr sz="1500">
                <a:solidFill>
                  <a:srgbClr val="2A2D37"/>
                </a:solidFill>
                <a:latin typeface="Aptos"/>
              </a:defRPr>
            </a:pPr>
            <a:r>
              <a:t>The run log provides an audit trail for tool input and output.</a:t>
            </a:r>
          </a:p>
          <a:p>
            <a:pPr>
              <a:spcAft>
                <a:spcPts val="700"/>
              </a:spcAft>
              <a:defRPr sz="1500">
                <a:solidFill>
                  <a:srgbClr val="2A2D37"/>
                </a:solidFill>
                <a:latin typeface="Aptos"/>
              </a:defRPr>
            </a:pPr>
            <a:r>
              <a:t>Unsupported or missing integrations are surfaced as setup states, not hidden failures.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User-facing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500" b="1">
                <a:solidFill>
                  <a:srgbClr val="15181F"/>
                </a:solidFill>
                <a:latin typeface="Aptos"/>
              </a:rPr>
              <a:t>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76F7E"/>
                </a:solidFill>
                <a:latin typeface="Aptos"/>
              </a:rPr>
              <a:t>Why this helps day-to-day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A2D37"/>
                </a:solidFill>
                <a:latin typeface="Aptos"/>
              </a:defRPr>
            </a:pPr>
            <a:r>
              <a:t>Reduces context switching across planning, writing, research, email, social, and task tracking.</a:t>
            </a:r>
          </a:p>
          <a:p>
            <a:pPr>
              <a:spcAft>
                <a:spcPts val="700"/>
              </a:spcAft>
              <a:defRPr sz="1600">
                <a:solidFill>
                  <a:srgbClr val="2A2D37"/>
                </a:solidFill>
                <a:latin typeface="Aptos"/>
              </a:defRPr>
            </a:pPr>
            <a:r>
              <a:t>Captures decisions and outputs in one persistent dashboard.</a:t>
            </a:r>
          </a:p>
          <a:p>
            <a:pPr>
              <a:spcAft>
                <a:spcPts val="700"/>
              </a:spcAft>
              <a:defRPr sz="1600">
                <a:solidFill>
                  <a:srgbClr val="2A2D37"/>
                </a:solidFill>
                <a:latin typeface="Aptos"/>
              </a:defRPr>
            </a:pPr>
            <a:r>
              <a:t>Lets non-technical users route work by outcome instead of by tool.</a:t>
            </a:r>
          </a:p>
          <a:p>
            <a:pPr>
              <a:spcAft>
                <a:spcPts val="700"/>
              </a:spcAft>
              <a:defRPr sz="1600">
                <a:solidFill>
                  <a:srgbClr val="2A2D37"/>
                </a:solidFill>
                <a:latin typeface="Aptos"/>
              </a:defRPr>
            </a:pPr>
            <a:r>
              <a:t>Makes agent work inspectable through logs, tool cards, documents, and task links.</a:t>
            </a:r>
          </a:p>
          <a:p>
            <a:pPr>
              <a:spcAft>
                <a:spcPts val="700"/>
              </a:spcAft>
              <a:defRPr sz="1600">
                <a:solidFill>
                  <a:srgbClr val="2A2D37"/>
                </a:solidFill>
                <a:latin typeface="Aptos"/>
              </a:defRPr>
            </a:pPr>
            <a:r>
              <a:t>Keeps developer work sandboxed away from the app source by default.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User-facing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500" b="1">
                <a:solidFill>
                  <a:srgbClr val="15181F"/>
                </a:solidFill>
                <a:latin typeface="Aptos"/>
              </a:rPr>
              <a:t>Roadmap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76F7E"/>
                </a:solidFill>
                <a:latin typeface="Aptos"/>
              </a:rPr>
              <a:t>Natural next steps for a production-grade version.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73152" cy="1143000"/>
          </a:xfrm>
          <a:prstGeom prst="rect">
            <a:avLst/>
          </a:prstGeom>
          <a:solidFill>
            <a:srgbClr val="4D7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17904"/>
            <a:ext cx="306324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Role-based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883664"/>
            <a:ext cx="306324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Separate admin, operator, and reviewer permissions.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7160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17904"/>
            <a:ext cx="306324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Approval queues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883664"/>
            <a:ext cx="306324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Formal review flow before sending, posting, or triggering external workflows.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37160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517904"/>
            <a:ext cx="306324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More integrations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883664"/>
            <a:ext cx="306324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CRM, calendar, analytics, storage, and ticketing connectors.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88036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2880360"/>
            <a:ext cx="73152" cy="1143000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3026664"/>
            <a:ext cx="306324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Better observability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392424"/>
            <a:ext cx="306324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Run metrics, latency, failure reasons, and cost budgets.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88036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2880360"/>
            <a:ext cx="73152" cy="1143000"/>
          </a:xfrm>
          <a:prstGeom prst="rect">
            <a:avLst/>
          </a:prstGeom>
          <a:solidFill>
            <a:srgbClr val="E8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7" y="3026664"/>
            <a:ext cx="306324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Templates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7" y="3392424"/>
            <a:ext cx="306324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Reusable briefs for launches, hiring, campaigns, reports, and inbox triage.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88036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2880360"/>
            <a:ext cx="73152" cy="1143000"/>
          </a:xfrm>
          <a:prstGeom prst="rect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8" y="3026664"/>
            <a:ext cx="306324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Deployment hardening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3392424"/>
            <a:ext cx="306324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Auth, encrypted tokens, job queues, and durable production storage.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User-facing deck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